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Montserrat Bold" charset="1" panose="00000800000000000000"/>
      <p:regular r:id="rId18"/>
    </p:embeddedFont>
    <p:embeddedFont>
      <p:font typeface="Source Sans 3" charset="1" panose="020B0303030403020204"/>
      <p:regular r:id="rId19"/>
    </p:embeddedFont>
    <p:embeddedFont>
      <p:font typeface="Source Sans 3 Bold" charset="1" panose="020B0303030403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72500" y="0"/>
            <a:ext cx="9715500" cy="10287000"/>
          </a:xfrm>
          <a:custGeom>
            <a:avLst/>
            <a:gdLst/>
            <a:ahLst/>
            <a:cxnLst/>
            <a:rect r="r" b="b" t="t" l="l"/>
            <a:pathLst>
              <a:path h="10287000" w="9715500">
                <a:moveTo>
                  <a:pt x="0" y="0"/>
                </a:moveTo>
                <a:lnTo>
                  <a:pt x="9715500" y="0"/>
                </a:lnTo>
                <a:lnTo>
                  <a:pt x="9715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117" t="0" r="-44117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572500" y="0"/>
            <a:ext cx="1714500" cy="10287000"/>
            <a:chOff x="0" y="0"/>
            <a:chExt cx="2286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86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71450" cy="10287000"/>
            <a:chOff x="0" y="0"/>
            <a:chExt cx="2286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A6A6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8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47750" y="2181225"/>
            <a:ext cx="7810500" cy="1669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7"/>
              </a:lnSpc>
            </a:pPr>
            <a:r>
              <a:rPr lang="en-US" sz="6150" b="true">
                <a:solidFill>
                  <a:srgbClr val="102A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Telco Customer</a:t>
            </a:r>
          </a:p>
          <a:p>
            <a:pPr algn="l">
              <a:lnSpc>
                <a:spcPts val="6457"/>
              </a:lnSpc>
            </a:pPr>
            <a:r>
              <a:rPr lang="en-US" sz="6150" b="true">
                <a:solidFill>
                  <a:srgbClr val="102A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Churn Prediction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750" y="4305300"/>
            <a:ext cx="657225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From churn probability to a clear retention action.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962025"/>
            <a:ext cx="1381125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A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478250" y="561975"/>
            <a:ext cx="857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02</a:t>
            </a:r>
          </a:p>
        </p:txBody>
      </p:sp>
      <p:sp>
        <p:nvSpPr>
          <p:cNvPr name="AutoShape 4" id="4"/>
          <p:cNvSpPr/>
          <p:nvPr/>
        </p:nvSpPr>
        <p:spPr>
          <a:xfrm>
            <a:off x="952500" y="1657350"/>
            <a:ext cx="16383000" cy="0"/>
          </a:xfrm>
          <a:prstGeom prst="line">
            <a:avLst/>
          </a:prstGeom>
          <a:ln cap="flat" w="19050">
            <a:solidFill>
              <a:srgbClr val="D9E2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952500" y="2143125"/>
            <a:ext cx="7239000" cy="6572250"/>
            <a:chOff x="0" y="0"/>
            <a:chExt cx="9652000" cy="8763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9652000" cy="8763000"/>
              <a:chOff x="0" y="0"/>
              <a:chExt cx="9652000" cy="8763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652000" cy="8763000"/>
              </a:xfrm>
              <a:custGeom>
                <a:avLst/>
                <a:gdLst/>
                <a:ahLst/>
                <a:cxnLst/>
                <a:rect r="r" b="b" t="t" l="l"/>
                <a:pathLst>
                  <a:path h="8763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8763000"/>
                    </a:lnTo>
                    <a:lnTo>
                      <a:pt x="0" y="8763000"/>
                    </a:lnTo>
                    <a:close/>
                  </a:path>
                </a:pathLst>
              </a:custGeom>
              <a:solidFill>
                <a:srgbClr val="EAF0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652000" cy="880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444500" y="342900"/>
              <a:ext cx="7874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spc="215" b="true">
                  <a:solidFill>
                    <a:srgbClr val="00A6A6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REVENUE LEAK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444500" y="1155700"/>
              <a:ext cx="8255000" cy="16929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82"/>
                </a:lnSpc>
              </a:pPr>
              <a:r>
                <a:rPr lang="en-US" sz="4650" b="true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Churn is visible</a:t>
              </a:r>
            </a:p>
            <a:p>
              <a:pPr algn="l">
                <a:lnSpc>
                  <a:spcPts val="4882"/>
                </a:lnSpc>
              </a:pPr>
              <a:r>
                <a:rPr lang="en-US" sz="4650" b="true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only after the loss.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444500" y="3717925"/>
              <a:ext cx="7747000" cy="891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243B5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Manual identification is slow, inconsistent, and difficult to scale.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8286750" y="5429250"/>
            <a:ext cx="762000" cy="0"/>
          </a:xfrm>
          <a:prstGeom prst="line">
            <a:avLst/>
          </a:prstGeom>
          <a:ln cap="rnd" w="47625">
            <a:solidFill>
              <a:srgbClr val="F28C2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9239250" y="2143125"/>
            <a:ext cx="8096250" cy="6572250"/>
            <a:chOff x="0" y="0"/>
            <a:chExt cx="10795000" cy="8763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0795000" cy="8763000"/>
              <a:chOff x="0" y="0"/>
              <a:chExt cx="10795000" cy="8763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795000" cy="8763000"/>
              </a:xfrm>
              <a:custGeom>
                <a:avLst/>
                <a:gdLst/>
                <a:ahLst/>
                <a:cxnLst/>
                <a:rect r="r" b="b" t="t" l="l"/>
                <a:pathLst>
                  <a:path h="8763000" w="10795000">
                    <a:moveTo>
                      <a:pt x="0" y="0"/>
                    </a:moveTo>
                    <a:lnTo>
                      <a:pt x="10795000" y="0"/>
                    </a:lnTo>
                    <a:lnTo>
                      <a:pt x="10795000" y="8763000"/>
                    </a:lnTo>
                    <a:lnTo>
                      <a:pt x="0" y="8763000"/>
                    </a:lnTo>
                    <a:close/>
                  </a:path>
                </a:pathLst>
              </a:custGeom>
              <a:solidFill>
                <a:srgbClr val="E8F5F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0795000" cy="880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762000" y="1069975"/>
              <a:ext cx="8255000" cy="548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65"/>
                </a:lnSpc>
              </a:pPr>
              <a:r>
                <a:rPr lang="en-US" sz="2475" spc="297" b="true">
                  <a:solidFill>
                    <a:srgbClr val="00A6A6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PREDICT → EXPLAIN → RETAIN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762000" y="2438400"/>
              <a:ext cx="8255000" cy="1541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38"/>
                </a:lnSpc>
              </a:pPr>
              <a:r>
                <a:rPr lang="en-US" sz="2325">
                  <a:solidFill>
                    <a:srgbClr val="243B5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• Detect likely churners early</a:t>
              </a:r>
            </a:p>
            <a:p>
              <a:pPr algn="l">
                <a:lnSpc>
                  <a:spcPts val="3138"/>
                </a:lnSpc>
              </a:pPr>
              <a:r>
                <a:rPr lang="en-US" sz="2325">
                  <a:solidFill>
                    <a:srgbClr val="243B5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• Prioritize proactive retention</a:t>
              </a:r>
            </a:p>
            <a:p>
              <a:pPr algn="l">
                <a:lnSpc>
                  <a:spcPts val="3138"/>
                </a:lnSpc>
              </a:pPr>
              <a:r>
                <a:rPr lang="en-US" sz="2325">
                  <a:solidFill>
                    <a:srgbClr val="243B5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• Explain every model decision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962025"/>
            <a:ext cx="1381125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A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478250" y="561975"/>
            <a:ext cx="857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03</a:t>
            </a:r>
          </a:p>
        </p:txBody>
      </p:sp>
      <p:sp>
        <p:nvSpPr>
          <p:cNvPr name="AutoShape 4" id="4"/>
          <p:cNvSpPr/>
          <p:nvPr/>
        </p:nvSpPr>
        <p:spPr>
          <a:xfrm>
            <a:off x="952500" y="1657350"/>
            <a:ext cx="16383000" cy="0"/>
          </a:xfrm>
          <a:prstGeom prst="line">
            <a:avLst/>
          </a:prstGeom>
          <a:ln cap="flat" w="19050">
            <a:solidFill>
              <a:srgbClr val="D9E2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952500" y="2190750"/>
            <a:ext cx="2933700" cy="5810250"/>
            <a:chOff x="0" y="0"/>
            <a:chExt cx="3911600" cy="7747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3911600" cy="7747000"/>
              <a:chOff x="0" y="0"/>
              <a:chExt cx="3911600" cy="7747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911600" cy="7747000"/>
              </a:xfrm>
              <a:custGeom>
                <a:avLst/>
                <a:gdLst/>
                <a:ahLst/>
                <a:cxnLst/>
                <a:rect r="r" b="b" t="t" l="l"/>
                <a:pathLst>
                  <a:path h="7747000" w="3911600">
                    <a:moveTo>
                      <a:pt x="0" y="0"/>
                    </a:moveTo>
                    <a:lnTo>
                      <a:pt x="3911600" y="0"/>
                    </a:lnTo>
                    <a:lnTo>
                      <a:pt x="3911600" y="7747000"/>
                    </a:lnTo>
                    <a:lnTo>
                      <a:pt x="0" y="7747000"/>
                    </a:lnTo>
                    <a:close/>
                  </a:path>
                </a:pathLst>
              </a:custGeom>
              <a:solidFill>
                <a:srgbClr val="EAF0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3911600" cy="778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355600" y="406400"/>
              <a:ext cx="1016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spc="225" b="true">
                  <a:solidFill>
                    <a:srgbClr val="00A6A6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01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355600" y="1889125"/>
              <a:ext cx="3556000" cy="520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2"/>
                </a:lnSpc>
              </a:pPr>
              <a:r>
                <a:rPr lang="en-US" sz="2850" b="true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Predict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55600" y="2701925"/>
              <a:ext cx="34290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243B5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Likelihood of customer churn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229100" y="2190750"/>
            <a:ext cx="2933700" cy="5810250"/>
            <a:chOff x="0" y="0"/>
            <a:chExt cx="3911600" cy="7747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3911600" cy="7747000"/>
              <a:chOff x="0" y="0"/>
              <a:chExt cx="3911600" cy="7747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911600" cy="7747000"/>
              </a:xfrm>
              <a:custGeom>
                <a:avLst/>
                <a:gdLst/>
                <a:ahLst/>
                <a:cxnLst/>
                <a:rect r="r" b="b" t="t" l="l"/>
                <a:pathLst>
                  <a:path h="7747000" w="3911600">
                    <a:moveTo>
                      <a:pt x="0" y="0"/>
                    </a:moveTo>
                    <a:lnTo>
                      <a:pt x="3911600" y="0"/>
                    </a:lnTo>
                    <a:lnTo>
                      <a:pt x="3911600" y="7747000"/>
                    </a:lnTo>
                    <a:lnTo>
                      <a:pt x="0" y="7747000"/>
                    </a:lnTo>
                    <a:close/>
                  </a:path>
                </a:pathLst>
              </a:custGeom>
              <a:solidFill>
                <a:srgbClr val="E8F5F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3911600" cy="778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355600" y="406400"/>
              <a:ext cx="1016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spc="225" b="true">
                  <a:solidFill>
                    <a:srgbClr val="00A6A6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02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55600" y="1889125"/>
              <a:ext cx="3556000" cy="520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2"/>
                </a:lnSpc>
              </a:pPr>
              <a:r>
                <a:rPr lang="en-US" sz="2850" b="true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Stratify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55600" y="2701925"/>
              <a:ext cx="3429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243B5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Low, Medium, or High risk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505700" y="2190750"/>
            <a:ext cx="2933700" cy="5810250"/>
            <a:chOff x="0" y="0"/>
            <a:chExt cx="3911600" cy="77470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3911600" cy="7747000"/>
              <a:chOff x="0" y="0"/>
              <a:chExt cx="3911600" cy="7747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3911600" cy="7747000"/>
              </a:xfrm>
              <a:custGeom>
                <a:avLst/>
                <a:gdLst/>
                <a:ahLst/>
                <a:cxnLst/>
                <a:rect r="r" b="b" t="t" l="l"/>
                <a:pathLst>
                  <a:path h="7747000" w="3911600">
                    <a:moveTo>
                      <a:pt x="0" y="0"/>
                    </a:moveTo>
                    <a:lnTo>
                      <a:pt x="3911600" y="0"/>
                    </a:lnTo>
                    <a:lnTo>
                      <a:pt x="3911600" y="7747000"/>
                    </a:lnTo>
                    <a:lnTo>
                      <a:pt x="0" y="7747000"/>
                    </a:lnTo>
                    <a:close/>
                  </a:path>
                </a:pathLst>
              </a:custGeom>
              <a:solidFill>
                <a:srgbClr val="102A4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3911600" cy="778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55600" y="406400"/>
              <a:ext cx="1016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spc="225" b="true">
                  <a:solidFill>
                    <a:srgbClr val="00A6A6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03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355600" y="1889125"/>
              <a:ext cx="3556000" cy="520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2"/>
                </a:lnSpc>
              </a:pPr>
              <a:r>
                <a:rPr lang="en-US" sz="28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Explain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55600" y="2701925"/>
              <a:ext cx="34290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Main factors per prediction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782300" y="2190750"/>
            <a:ext cx="2933700" cy="5810250"/>
            <a:chOff x="0" y="0"/>
            <a:chExt cx="3911600" cy="77470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3911600" cy="7747000"/>
              <a:chOff x="0" y="0"/>
              <a:chExt cx="3911600" cy="77470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3911600" cy="7747000"/>
              </a:xfrm>
              <a:custGeom>
                <a:avLst/>
                <a:gdLst/>
                <a:ahLst/>
                <a:cxnLst/>
                <a:rect r="r" b="b" t="t" l="l"/>
                <a:pathLst>
                  <a:path h="7747000" w="3911600">
                    <a:moveTo>
                      <a:pt x="0" y="0"/>
                    </a:moveTo>
                    <a:lnTo>
                      <a:pt x="3911600" y="0"/>
                    </a:lnTo>
                    <a:lnTo>
                      <a:pt x="3911600" y="7747000"/>
                    </a:lnTo>
                    <a:lnTo>
                      <a:pt x="0" y="7747000"/>
                    </a:lnTo>
                    <a:close/>
                  </a:path>
                </a:pathLst>
              </a:custGeom>
              <a:solidFill>
                <a:srgbClr val="E8F5F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3911600" cy="778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355600" y="406400"/>
              <a:ext cx="1016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spc="225" b="true">
                  <a:solidFill>
                    <a:srgbClr val="00A6A6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04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355600" y="1889125"/>
              <a:ext cx="3556000" cy="520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2"/>
                </a:lnSpc>
              </a:pPr>
              <a:r>
                <a:rPr lang="en-US" sz="2850" b="true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Scale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55600" y="2701925"/>
              <a:ext cx="3429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243B5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Single and batch analysis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058900" y="2190750"/>
            <a:ext cx="2933700" cy="5810250"/>
            <a:chOff x="0" y="0"/>
            <a:chExt cx="3911600" cy="774700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3911600" cy="7747000"/>
              <a:chOff x="0" y="0"/>
              <a:chExt cx="3911600" cy="77470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3911600" cy="7747000"/>
              </a:xfrm>
              <a:custGeom>
                <a:avLst/>
                <a:gdLst/>
                <a:ahLst/>
                <a:cxnLst/>
                <a:rect r="r" b="b" t="t" l="l"/>
                <a:pathLst>
                  <a:path h="7747000" w="3911600">
                    <a:moveTo>
                      <a:pt x="0" y="0"/>
                    </a:moveTo>
                    <a:lnTo>
                      <a:pt x="3911600" y="0"/>
                    </a:lnTo>
                    <a:lnTo>
                      <a:pt x="3911600" y="7747000"/>
                    </a:lnTo>
                    <a:lnTo>
                      <a:pt x="0" y="7747000"/>
                    </a:lnTo>
                    <a:close/>
                  </a:path>
                </a:pathLst>
              </a:custGeom>
              <a:solidFill>
                <a:srgbClr val="EAF0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3911600" cy="778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355600" y="406400"/>
              <a:ext cx="1016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spc="225" b="true">
                  <a:solidFill>
                    <a:srgbClr val="00A6A6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05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355600" y="1889125"/>
              <a:ext cx="3556000" cy="520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2"/>
                </a:lnSpc>
              </a:pPr>
              <a:r>
                <a:rPr lang="en-US" sz="2850" b="true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Report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355600" y="2701925"/>
              <a:ext cx="34290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243B5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Downloadable business follow-up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962025"/>
            <a:ext cx="1381125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A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478250" y="561975"/>
            <a:ext cx="857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04</a:t>
            </a:r>
          </a:p>
        </p:txBody>
      </p:sp>
      <p:sp>
        <p:nvSpPr>
          <p:cNvPr name="AutoShape 4" id="4"/>
          <p:cNvSpPr/>
          <p:nvPr/>
        </p:nvSpPr>
        <p:spPr>
          <a:xfrm>
            <a:off x="952500" y="1657350"/>
            <a:ext cx="16383000" cy="0"/>
          </a:xfrm>
          <a:prstGeom prst="line">
            <a:avLst/>
          </a:prstGeom>
          <a:ln cap="flat" w="19050">
            <a:solidFill>
              <a:srgbClr val="D9E2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47750" y="2590800"/>
            <a:ext cx="6191250" cy="113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62"/>
              </a:lnSpc>
            </a:pPr>
            <a:r>
              <a:rPr lang="en-US" sz="8250" b="true">
                <a:solidFill>
                  <a:srgbClr val="102A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7,043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3629025"/>
            <a:ext cx="619125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customers  •  21 columns</a:t>
            </a:r>
          </a:p>
        </p:txBody>
      </p:sp>
      <p:sp>
        <p:nvSpPr>
          <p:cNvPr name="AutoShape 7" id="7"/>
          <p:cNvSpPr/>
          <p:nvPr/>
        </p:nvSpPr>
        <p:spPr>
          <a:xfrm>
            <a:off x="1143000" y="4619625"/>
            <a:ext cx="6000750" cy="0"/>
          </a:xfrm>
          <a:prstGeom prst="line">
            <a:avLst/>
          </a:prstGeom>
          <a:ln cap="flat" w="19050">
            <a:solidFill>
              <a:srgbClr val="D9E2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143000" y="5105400"/>
            <a:ext cx="5334000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600" b="true">
                <a:solidFill>
                  <a:srgbClr val="102A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19 predictors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5781675"/>
            <a:ext cx="6858000" cy="675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Tenure • contract • monthly charges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Internet • payment • support services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000" y="7486650"/>
            <a:ext cx="61912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15" b="true">
                <a:solidFill>
                  <a:srgbClr val="00A6A6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TARGET  /  CHURN: YES OR NO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770480" y="1667393"/>
            <a:ext cx="6748039" cy="74284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962025"/>
            <a:ext cx="1381125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A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Deep Learning Workflow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478250" y="561975"/>
            <a:ext cx="857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05</a:t>
            </a:r>
          </a:p>
        </p:txBody>
      </p:sp>
      <p:sp>
        <p:nvSpPr>
          <p:cNvPr name="AutoShape 4" id="4"/>
          <p:cNvSpPr/>
          <p:nvPr/>
        </p:nvSpPr>
        <p:spPr>
          <a:xfrm>
            <a:off x="952500" y="1657350"/>
            <a:ext cx="16383000" cy="0"/>
          </a:xfrm>
          <a:prstGeom prst="line">
            <a:avLst/>
          </a:prstGeom>
          <a:ln cap="flat" w="19050">
            <a:solidFill>
              <a:srgbClr val="D9E2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666750" y="4000500"/>
            <a:ext cx="1714500" cy="1285875"/>
            <a:chOff x="0" y="0"/>
            <a:chExt cx="2286000" cy="1714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86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2286000">
                  <a:moveTo>
                    <a:pt x="98778" y="0"/>
                  </a:moveTo>
                  <a:lnTo>
                    <a:pt x="2187222" y="0"/>
                  </a:lnTo>
                  <a:cubicBezTo>
                    <a:pt x="2241776" y="0"/>
                    <a:pt x="2286000" y="44224"/>
                    <a:pt x="2286000" y="98778"/>
                  </a:cubicBezTo>
                  <a:lnTo>
                    <a:pt x="2286000" y="1615722"/>
                  </a:lnTo>
                  <a:cubicBezTo>
                    <a:pt x="2286000" y="1670276"/>
                    <a:pt x="2241776" y="1714500"/>
                    <a:pt x="2187222" y="1714500"/>
                  </a:cubicBezTo>
                  <a:lnTo>
                    <a:pt x="98778" y="1714500"/>
                  </a:lnTo>
                  <a:cubicBezTo>
                    <a:pt x="44224" y="1714500"/>
                    <a:pt x="0" y="1670276"/>
                    <a:pt x="0" y="1615722"/>
                  </a:cubicBezTo>
                  <a:lnTo>
                    <a:pt x="0" y="98778"/>
                  </a:lnTo>
                  <a:cubicBezTo>
                    <a:pt x="0" y="44224"/>
                    <a:pt x="44224" y="0"/>
                    <a:pt x="98778" y="0"/>
                  </a:cubicBezTo>
                  <a:close/>
                </a:path>
              </a:pathLst>
            </a:custGeom>
            <a:solidFill>
              <a:srgbClr val="00A6A6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86000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Customer</a:t>
              </a:r>
            </a:p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Data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2419350" y="4638675"/>
            <a:ext cx="342900" cy="0"/>
          </a:xfrm>
          <a:prstGeom prst="line">
            <a:avLst/>
          </a:prstGeom>
          <a:ln cap="rnd" w="38100">
            <a:solidFill>
              <a:srgbClr val="627D9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2838450" y="4000500"/>
            <a:ext cx="1714500" cy="1285875"/>
            <a:chOff x="0" y="0"/>
            <a:chExt cx="2286000" cy="1714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86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2286000">
                  <a:moveTo>
                    <a:pt x="98778" y="0"/>
                  </a:moveTo>
                  <a:lnTo>
                    <a:pt x="2187222" y="0"/>
                  </a:lnTo>
                  <a:cubicBezTo>
                    <a:pt x="2241776" y="0"/>
                    <a:pt x="2286000" y="44224"/>
                    <a:pt x="2286000" y="98778"/>
                  </a:cubicBezTo>
                  <a:lnTo>
                    <a:pt x="2286000" y="1615722"/>
                  </a:lnTo>
                  <a:cubicBezTo>
                    <a:pt x="2286000" y="1670276"/>
                    <a:pt x="2241776" y="1714500"/>
                    <a:pt x="2187222" y="1714500"/>
                  </a:cubicBezTo>
                  <a:lnTo>
                    <a:pt x="98778" y="1714500"/>
                  </a:lnTo>
                  <a:cubicBezTo>
                    <a:pt x="44224" y="1714500"/>
                    <a:pt x="0" y="1670276"/>
                    <a:pt x="0" y="1615722"/>
                  </a:cubicBezTo>
                  <a:lnTo>
                    <a:pt x="0" y="98778"/>
                  </a:lnTo>
                  <a:cubicBezTo>
                    <a:pt x="0" y="44224"/>
                    <a:pt x="44224" y="0"/>
                    <a:pt x="98778" y="0"/>
                  </a:cubicBezTo>
                  <a:close/>
                </a:path>
              </a:pathLst>
            </a:custGeom>
            <a:solidFill>
              <a:srgbClr val="E8F5F5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86000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Validation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4591050" y="4638675"/>
            <a:ext cx="342900" cy="0"/>
          </a:xfrm>
          <a:prstGeom prst="line">
            <a:avLst/>
          </a:prstGeom>
          <a:ln cap="rnd" w="38100">
            <a:solidFill>
              <a:srgbClr val="627D9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5010150" y="4000500"/>
            <a:ext cx="1714500" cy="1285875"/>
            <a:chOff x="0" y="0"/>
            <a:chExt cx="2286000" cy="1714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86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2286000">
                  <a:moveTo>
                    <a:pt x="98778" y="0"/>
                  </a:moveTo>
                  <a:lnTo>
                    <a:pt x="2187222" y="0"/>
                  </a:lnTo>
                  <a:cubicBezTo>
                    <a:pt x="2241776" y="0"/>
                    <a:pt x="2286000" y="44224"/>
                    <a:pt x="2286000" y="98778"/>
                  </a:cubicBezTo>
                  <a:lnTo>
                    <a:pt x="2286000" y="1615722"/>
                  </a:lnTo>
                  <a:cubicBezTo>
                    <a:pt x="2286000" y="1670276"/>
                    <a:pt x="2241776" y="1714500"/>
                    <a:pt x="2187222" y="1714500"/>
                  </a:cubicBezTo>
                  <a:lnTo>
                    <a:pt x="98778" y="1714500"/>
                  </a:lnTo>
                  <a:cubicBezTo>
                    <a:pt x="44224" y="1714500"/>
                    <a:pt x="0" y="1670276"/>
                    <a:pt x="0" y="1615722"/>
                  </a:cubicBezTo>
                  <a:lnTo>
                    <a:pt x="0" y="98778"/>
                  </a:lnTo>
                  <a:cubicBezTo>
                    <a:pt x="0" y="44224"/>
                    <a:pt x="44224" y="0"/>
                    <a:pt x="98778" y="0"/>
                  </a:cubicBezTo>
                  <a:close/>
                </a:path>
              </a:pathLst>
            </a:custGeom>
            <a:solidFill>
              <a:srgbClr val="00A6A6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286000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Preprocessing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6762750" y="4638675"/>
            <a:ext cx="342900" cy="0"/>
          </a:xfrm>
          <a:prstGeom prst="line">
            <a:avLst/>
          </a:prstGeom>
          <a:ln cap="rnd" w="38100">
            <a:solidFill>
              <a:srgbClr val="627D9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7181850" y="4000500"/>
            <a:ext cx="1714500" cy="1285875"/>
            <a:chOff x="0" y="0"/>
            <a:chExt cx="2286000" cy="1714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86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2286000">
                  <a:moveTo>
                    <a:pt x="98778" y="0"/>
                  </a:moveTo>
                  <a:lnTo>
                    <a:pt x="2187222" y="0"/>
                  </a:lnTo>
                  <a:cubicBezTo>
                    <a:pt x="2241776" y="0"/>
                    <a:pt x="2286000" y="44224"/>
                    <a:pt x="2286000" y="98778"/>
                  </a:cubicBezTo>
                  <a:lnTo>
                    <a:pt x="2286000" y="1615722"/>
                  </a:lnTo>
                  <a:cubicBezTo>
                    <a:pt x="2286000" y="1670276"/>
                    <a:pt x="2241776" y="1714500"/>
                    <a:pt x="2187222" y="1714500"/>
                  </a:cubicBezTo>
                  <a:lnTo>
                    <a:pt x="98778" y="1714500"/>
                  </a:lnTo>
                  <a:cubicBezTo>
                    <a:pt x="44224" y="1714500"/>
                    <a:pt x="0" y="1670276"/>
                    <a:pt x="0" y="1615722"/>
                  </a:cubicBezTo>
                  <a:lnTo>
                    <a:pt x="0" y="98778"/>
                  </a:lnTo>
                  <a:cubicBezTo>
                    <a:pt x="0" y="44224"/>
                    <a:pt x="44224" y="0"/>
                    <a:pt x="98778" y="0"/>
                  </a:cubicBezTo>
                  <a:close/>
                </a:path>
              </a:pathLst>
            </a:custGeom>
            <a:solidFill>
              <a:srgbClr val="102A43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286000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Neural</a:t>
              </a:r>
            </a:p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Network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8934450" y="4638675"/>
            <a:ext cx="342900" cy="0"/>
          </a:xfrm>
          <a:prstGeom prst="line">
            <a:avLst/>
          </a:prstGeom>
          <a:ln cap="rnd" w="38100">
            <a:solidFill>
              <a:srgbClr val="627D9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9353550" y="4000500"/>
            <a:ext cx="1714500" cy="1285875"/>
            <a:chOff x="0" y="0"/>
            <a:chExt cx="2286000" cy="1714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86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2286000">
                  <a:moveTo>
                    <a:pt x="98778" y="0"/>
                  </a:moveTo>
                  <a:lnTo>
                    <a:pt x="2187222" y="0"/>
                  </a:lnTo>
                  <a:cubicBezTo>
                    <a:pt x="2241776" y="0"/>
                    <a:pt x="2286000" y="44224"/>
                    <a:pt x="2286000" y="98778"/>
                  </a:cubicBezTo>
                  <a:lnTo>
                    <a:pt x="2286000" y="1615722"/>
                  </a:lnTo>
                  <a:cubicBezTo>
                    <a:pt x="2286000" y="1670276"/>
                    <a:pt x="2241776" y="1714500"/>
                    <a:pt x="2187222" y="1714500"/>
                  </a:cubicBezTo>
                  <a:lnTo>
                    <a:pt x="98778" y="1714500"/>
                  </a:lnTo>
                  <a:cubicBezTo>
                    <a:pt x="44224" y="1714500"/>
                    <a:pt x="0" y="1670276"/>
                    <a:pt x="0" y="1615722"/>
                  </a:cubicBezTo>
                  <a:lnTo>
                    <a:pt x="0" y="98778"/>
                  </a:lnTo>
                  <a:cubicBezTo>
                    <a:pt x="0" y="44224"/>
                    <a:pt x="44224" y="0"/>
                    <a:pt x="98778" y="0"/>
                  </a:cubicBezTo>
                  <a:close/>
                </a:path>
              </a:pathLst>
            </a:custGeom>
            <a:solidFill>
              <a:srgbClr val="00A6A6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286000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Churn</a:t>
              </a:r>
            </a:p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Probability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11106150" y="4638675"/>
            <a:ext cx="342900" cy="0"/>
          </a:xfrm>
          <a:prstGeom prst="line">
            <a:avLst/>
          </a:prstGeom>
          <a:ln cap="rnd" w="38100">
            <a:solidFill>
              <a:srgbClr val="627D9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11525250" y="4000500"/>
            <a:ext cx="1714500" cy="1285875"/>
            <a:chOff x="0" y="0"/>
            <a:chExt cx="2286000" cy="1714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86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2286000">
                  <a:moveTo>
                    <a:pt x="98778" y="0"/>
                  </a:moveTo>
                  <a:lnTo>
                    <a:pt x="2187222" y="0"/>
                  </a:lnTo>
                  <a:cubicBezTo>
                    <a:pt x="2241776" y="0"/>
                    <a:pt x="2286000" y="44224"/>
                    <a:pt x="2286000" y="98778"/>
                  </a:cubicBezTo>
                  <a:lnTo>
                    <a:pt x="2286000" y="1615722"/>
                  </a:lnTo>
                  <a:cubicBezTo>
                    <a:pt x="2286000" y="1670276"/>
                    <a:pt x="2241776" y="1714500"/>
                    <a:pt x="2187222" y="1714500"/>
                  </a:cubicBezTo>
                  <a:lnTo>
                    <a:pt x="98778" y="1714500"/>
                  </a:lnTo>
                  <a:cubicBezTo>
                    <a:pt x="44224" y="1714500"/>
                    <a:pt x="0" y="1670276"/>
                    <a:pt x="0" y="1615722"/>
                  </a:cubicBezTo>
                  <a:lnTo>
                    <a:pt x="0" y="98778"/>
                  </a:lnTo>
                  <a:cubicBezTo>
                    <a:pt x="0" y="44224"/>
                    <a:pt x="44224" y="0"/>
                    <a:pt x="98778" y="0"/>
                  </a:cubicBezTo>
                  <a:close/>
                </a:path>
              </a:pathLst>
            </a:custGeom>
            <a:solidFill>
              <a:srgbClr val="E8F5F5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286000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Risk</a:t>
              </a:r>
            </a:p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Level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>
            <a:off x="13277850" y="4638675"/>
            <a:ext cx="342900" cy="0"/>
          </a:xfrm>
          <a:prstGeom prst="line">
            <a:avLst/>
          </a:prstGeom>
          <a:ln cap="rnd" w="38100">
            <a:solidFill>
              <a:srgbClr val="627D9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13696950" y="4000500"/>
            <a:ext cx="1714500" cy="1285875"/>
            <a:chOff x="0" y="0"/>
            <a:chExt cx="2286000" cy="17145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86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2286000">
                  <a:moveTo>
                    <a:pt x="98778" y="0"/>
                  </a:moveTo>
                  <a:lnTo>
                    <a:pt x="2187222" y="0"/>
                  </a:lnTo>
                  <a:cubicBezTo>
                    <a:pt x="2241776" y="0"/>
                    <a:pt x="2286000" y="44224"/>
                    <a:pt x="2286000" y="98778"/>
                  </a:cubicBezTo>
                  <a:lnTo>
                    <a:pt x="2286000" y="1615722"/>
                  </a:lnTo>
                  <a:cubicBezTo>
                    <a:pt x="2286000" y="1670276"/>
                    <a:pt x="2241776" y="1714500"/>
                    <a:pt x="2187222" y="1714500"/>
                  </a:cubicBezTo>
                  <a:lnTo>
                    <a:pt x="98778" y="1714500"/>
                  </a:lnTo>
                  <a:cubicBezTo>
                    <a:pt x="44224" y="1714500"/>
                    <a:pt x="0" y="1670276"/>
                    <a:pt x="0" y="1615722"/>
                  </a:cubicBezTo>
                  <a:lnTo>
                    <a:pt x="0" y="98778"/>
                  </a:lnTo>
                  <a:cubicBezTo>
                    <a:pt x="0" y="44224"/>
                    <a:pt x="44224" y="0"/>
                    <a:pt x="98778" y="0"/>
                  </a:cubicBezTo>
                  <a:close/>
                </a:path>
              </a:pathLst>
            </a:custGeom>
            <a:solidFill>
              <a:srgbClr val="00A6A6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286000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SHAP</a:t>
              </a:r>
            </a:p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Explanation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>
            <a:off x="15449550" y="4638675"/>
            <a:ext cx="342900" cy="0"/>
          </a:xfrm>
          <a:prstGeom prst="line">
            <a:avLst/>
          </a:prstGeom>
          <a:ln cap="rnd" w="38100">
            <a:solidFill>
              <a:srgbClr val="627D9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5868650" y="4000500"/>
            <a:ext cx="1714500" cy="1285875"/>
            <a:chOff x="0" y="0"/>
            <a:chExt cx="2286000" cy="17145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86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2286000">
                  <a:moveTo>
                    <a:pt x="98778" y="0"/>
                  </a:moveTo>
                  <a:lnTo>
                    <a:pt x="2187222" y="0"/>
                  </a:lnTo>
                  <a:cubicBezTo>
                    <a:pt x="2241776" y="0"/>
                    <a:pt x="2286000" y="44224"/>
                    <a:pt x="2286000" y="98778"/>
                  </a:cubicBezTo>
                  <a:lnTo>
                    <a:pt x="2286000" y="1615722"/>
                  </a:lnTo>
                  <a:cubicBezTo>
                    <a:pt x="2286000" y="1670276"/>
                    <a:pt x="2241776" y="1714500"/>
                    <a:pt x="2187222" y="1714500"/>
                  </a:cubicBezTo>
                  <a:lnTo>
                    <a:pt x="98778" y="1714500"/>
                  </a:lnTo>
                  <a:cubicBezTo>
                    <a:pt x="44224" y="1714500"/>
                    <a:pt x="0" y="1670276"/>
                    <a:pt x="0" y="1615722"/>
                  </a:cubicBezTo>
                  <a:lnTo>
                    <a:pt x="0" y="98778"/>
                  </a:lnTo>
                  <a:cubicBezTo>
                    <a:pt x="0" y="44224"/>
                    <a:pt x="44224" y="0"/>
                    <a:pt x="98778" y="0"/>
                  </a:cubicBezTo>
                  <a:close/>
                </a:path>
              </a:pathLst>
            </a:custGeom>
            <a:solidFill>
              <a:srgbClr val="F28C28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286000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Retention</a:t>
              </a:r>
            </a:p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Action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666750" y="6010275"/>
            <a:ext cx="4000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00A6A6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RAW INPUT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572250" y="6010275"/>
            <a:ext cx="5238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b="true" sz="1650" spc="198">
                <a:solidFill>
                  <a:srgbClr val="00A6A6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MODEL &amp; DECISION ENGINE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620750" y="6010275"/>
            <a:ext cx="4000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98">
                <a:solidFill>
                  <a:srgbClr val="00A6A6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ACTIONABLE OUTPUT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962025"/>
            <a:ext cx="1381125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A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Preprocessing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478250" y="561975"/>
            <a:ext cx="857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06</a:t>
            </a:r>
          </a:p>
        </p:txBody>
      </p:sp>
      <p:sp>
        <p:nvSpPr>
          <p:cNvPr name="AutoShape 4" id="4"/>
          <p:cNvSpPr/>
          <p:nvPr/>
        </p:nvSpPr>
        <p:spPr>
          <a:xfrm>
            <a:off x="952500" y="1657350"/>
            <a:ext cx="16383000" cy="0"/>
          </a:xfrm>
          <a:prstGeom prst="line">
            <a:avLst/>
          </a:prstGeom>
          <a:ln cap="flat" w="19050">
            <a:solidFill>
              <a:srgbClr val="D9E2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285875" y="2828925"/>
            <a:ext cx="2381250" cy="1083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68"/>
              </a:lnSpc>
            </a:pPr>
            <a:r>
              <a:rPr lang="en-US" sz="7875" b="true">
                <a:solidFill>
                  <a:srgbClr val="102A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3500" y="3867150"/>
            <a:ext cx="2857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raw features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87500" y="2828925"/>
            <a:ext cx="2381250" cy="1083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68"/>
              </a:lnSpc>
            </a:pPr>
            <a:r>
              <a:rPr lang="en-US" sz="7875" b="true">
                <a:solidFill>
                  <a:srgbClr val="102A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87500" y="3867150"/>
            <a:ext cx="2857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model features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953000" y="2333625"/>
            <a:ext cx="7810500" cy="1285875"/>
            <a:chOff x="0" y="0"/>
            <a:chExt cx="10414000" cy="17145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0414000" cy="1714500"/>
              <a:chOff x="0" y="0"/>
              <a:chExt cx="10414000" cy="17145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414000" cy="1714500"/>
              </a:xfrm>
              <a:custGeom>
                <a:avLst/>
                <a:gdLst/>
                <a:ahLst/>
                <a:cxnLst/>
                <a:rect r="r" b="b" t="t" l="l"/>
                <a:pathLst>
                  <a:path h="17145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1714500"/>
                    </a:lnTo>
                    <a:lnTo>
                      <a:pt x="0" y="1714500"/>
                    </a:lnTo>
                    <a:close/>
                  </a:path>
                </a:pathLst>
              </a:custGeom>
              <a:solidFill>
                <a:srgbClr val="EAF0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0414000" cy="1752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635000" y="346075"/>
              <a:ext cx="8890000" cy="436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41"/>
                </a:lnSpc>
              </a:pPr>
              <a:r>
                <a:rPr lang="en-US" sz="2325" b="true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  Median imputation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635000" y="965200"/>
              <a:ext cx="8255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627D9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Missing TotalCharges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953000" y="3905250"/>
            <a:ext cx="7810500" cy="1285875"/>
            <a:chOff x="0" y="0"/>
            <a:chExt cx="10414000" cy="17145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0414000" cy="1714500"/>
              <a:chOff x="0" y="0"/>
              <a:chExt cx="10414000" cy="17145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414000" cy="1714500"/>
              </a:xfrm>
              <a:custGeom>
                <a:avLst/>
                <a:gdLst/>
                <a:ahLst/>
                <a:cxnLst/>
                <a:rect r="r" b="b" t="t" l="l"/>
                <a:pathLst>
                  <a:path h="17145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1714500"/>
                    </a:lnTo>
                    <a:lnTo>
                      <a:pt x="0" y="1714500"/>
                    </a:lnTo>
                    <a:close/>
                  </a:path>
                </a:pathLst>
              </a:custGeom>
              <a:solidFill>
                <a:srgbClr val="E8F5F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0414000" cy="1752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635000" y="346075"/>
              <a:ext cx="8890000" cy="436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41"/>
                </a:lnSpc>
              </a:pPr>
              <a:r>
                <a:rPr lang="en-US" sz="2325" b="true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  Mode imputation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635000" y="965200"/>
              <a:ext cx="8255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627D9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Categorical gaps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953000" y="5476875"/>
            <a:ext cx="7810500" cy="1285875"/>
            <a:chOff x="0" y="0"/>
            <a:chExt cx="10414000" cy="17145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0414000" cy="1714500"/>
              <a:chOff x="0" y="0"/>
              <a:chExt cx="10414000" cy="17145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414000" cy="1714500"/>
              </a:xfrm>
              <a:custGeom>
                <a:avLst/>
                <a:gdLst/>
                <a:ahLst/>
                <a:cxnLst/>
                <a:rect r="r" b="b" t="t" l="l"/>
                <a:pathLst>
                  <a:path h="17145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1714500"/>
                    </a:lnTo>
                    <a:lnTo>
                      <a:pt x="0" y="1714500"/>
                    </a:lnTo>
                    <a:close/>
                  </a:path>
                </a:pathLst>
              </a:custGeom>
              <a:solidFill>
                <a:srgbClr val="EAF0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0414000" cy="1752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635000" y="346075"/>
              <a:ext cx="8890000" cy="436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41"/>
                </a:lnSpc>
              </a:pPr>
              <a:r>
                <a:rPr lang="en-US" sz="2325" b="true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  Standardization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635000" y="965200"/>
              <a:ext cx="8255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627D9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Numeric features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953000" y="7048500"/>
            <a:ext cx="7810500" cy="1285875"/>
            <a:chOff x="0" y="0"/>
            <a:chExt cx="10414000" cy="17145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0414000" cy="1714500"/>
              <a:chOff x="0" y="0"/>
              <a:chExt cx="10414000" cy="17145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0414000" cy="1714500"/>
              </a:xfrm>
              <a:custGeom>
                <a:avLst/>
                <a:gdLst/>
                <a:ahLst/>
                <a:cxnLst/>
                <a:rect r="r" b="b" t="t" l="l"/>
                <a:pathLst>
                  <a:path h="17145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1714500"/>
                    </a:lnTo>
                    <a:lnTo>
                      <a:pt x="0" y="1714500"/>
                    </a:lnTo>
                    <a:close/>
                  </a:path>
                </a:pathLst>
              </a:custGeom>
              <a:solidFill>
                <a:srgbClr val="E8F5F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0414000" cy="1752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635000" y="346075"/>
              <a:ext cx="8890000" cy="436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41"/>
                </a:lnSpc>
              </a:pPr>
              <a:r>
                <a:rPr lang="en-US" sz="2325" b="true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  One-hot encoding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635000" y="965200"/>
              <a:ext cx="8255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627D9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Categorical features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>
            <a:off x="4000500" y="4810125"/>
            <a:ext cx="762000" cy="0"/>
          </a:xfrm>
          <a:prstGeom prst="line">
            <a:avLst/>
          </a:prstGeom>
          <a:ln cap="rnd" w="47625">
            <a:solidFill>
              <a:srgbClr val="00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12954000" y="4810125"/>
            <a:ext cx="857250" cy="0"/>
          </a:xfrm>
          <a:prstGeom prst="line">
            <a:avLst/>
          </a:prstGeom>
          <a:ln cap="rnd" w="47625">
            <a:solidFill>
              <a:srgbClr val="00A6A6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962025"/>
            <a:ext cx="1381125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A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 Architecture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478250" y="561975"/>
            <a:ext cx="857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07</a:t>
            </a:r>
          </a:p>
        </p:txBody>
      </p:sp>
      <p:sp>
        <p:nvSpPr>
          <p:cNvPr name="AutoShape 4" id="4"/>
          <p:cNvSpPr/>
          <p:nvPr/>
        </p:nvSpPr>
        <p:spPr>
          <a:xfrm>
            <a:off x="952500" y="1657350"/>
            <a:ext cx="16383000" cy="0"/>
          </a:xfrm>
          <a:prstGeom prst="line">
            <a:avLst/>
          </a:prstGeom>
          <a:ln cap="flat" w="19050">
            <a:solidFill>
              <a:srgbClr val="D9E2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952500" y="3476625"/>
            <a:ext cx="2095500" cy="1714500"/>
            <a:chOff x="0" y="0"/>
            <a:chExt cx="2794000" cy="228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9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794000">
                  <a:moveTo>
                    <a:pt x="80818" y="0"/>
                  </a:moveTo>
                  <a:lnTo>
                    <a:pt x="2713182" y="0"/>
                  </a:lnTo>
                  <a:cubicBezTo>
                    <a:pt x="2734616" y="0"/>
                    <a:pt x="2755173" y="8515"/>
                    <a:pt x="2770329" y="23671"/>
                  </a:cubicBezTo>
                  <a:cubicBezTo>
                    <a:pt x="2785485" y="38827"/>
                    <a:pt x="2794000" y="59384"/>
                    <a:pt x="2794000" y="80818"/>
                  </a:cubicBezTo>
                  <a:lnTo>
                    <a:pt x="2794000" y="2205182"/>
                  </a:lnTo>
                  <a:cubicBezTo>
                    <a:pt x="2794000" y="2226616"/>
                    <a:pt x="2785485" y="2247173"/>
                    <a:pt x="2770329" y="2262329"/>
                  </a:cubicBezTo>
                  <a:cubicBezTo>
                    <a:pt x="2755173" y="2277485"/>
                    <a:pt x="2734616" y="2286000"/>
                    <a:pt x="2713182" y="2286000"/>
                  </a:cubicBezTo>
                  <a:lnTo>
                    <a:pt x="80818" y="2286000"/>
                  </a:lnTo>
                  <a:cubicBezTo>
                    <a:pt x="59384" y="2286000"/>
                    <a:pt x="38827" y="2277485"/>
                    <a:pt x="23671" y="2262329"/>
                  </a:cubicBezTo>
                  <a:cubicBezTo>
                    <a:pt x="8515" y="2247173"/>
                    <a:pt x="0" y="2226616"/>
                    <a:pt x="0" y="2205182"/>
                  </a:cubicBezTo>
                  <a:lnTo>
                    <a:pt x="0" y="80818"/>
                  </a:lnTo>
                  <a:cubicBezTo>
                    <a:pt x="0" y="59384"/>
                    <a:pt x="8515" y="38827"/>
                    <a:pt x="23671" y="23671"/>
                  </a:cubicBezTo>
                  <a:cubicBezTo>
                    <a:pt x="38827" y="8515"/>
                    <a:pt x="59384" y="0"/>
                    <a:pt x="80818" y="0"/>
                  </a:cubicBezTo>
                  <a:close/>
                </a:path>
              </a:pathLst>
            </a:custGeom>
            <a:solidFill>
              <a:srgbClr val="EAF0F6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94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INPUT</a:t>
              </a:r>
            </a:p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30 features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3124200" y="4333875"/>
            <a:ext cx="609600" cy="0"/>
          </a:xfrm>
          <a:prstGeom prst="line">
            <a:avLst/>
          </a:prstGeom>
          <a:ln cap="rnd" w="38100">
            <a:solidFill>
              <a:srgbClr val="D9E2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3905250" y="3476625"/>
            <a:ext cx="2476500" cy="1714500"/>
            <a:chOff x="0" y="0"/>
            <a:chExt cx="3302000" cy="228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02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302000">
                  <a:moveTo>
                    <a:pt x="68385" y="0"/>
                  </a:moveTo>
                  <a:lnTo>
                    <a:pt x="3233615" y="0"/>
                  </a:lnTo>
                  <a:cubicBezTo>
                    <a:pt x="3251752" y="0"/>
                    <a:pt x="3269146" y="7205"/>
                    <a:pt x="3281971" y="20029"/>
                  </a:cubicBezTo>
                  <a:cubicBezTo>
                    <a:pt x="3294795" y="32854"/>
                    <a:pt x="3302000" y="50248"/>
                    <a:pt x="3302000" y="68385"/>
                  </a:cubicBezTo>
                  <a:lnTo>
                    <a:pt x="3302000" y="2217615"/>
                  </a:lnTo>
                  <a:cubicBezTo>
                    <a:pt x="3302000" y="2235752"/>
                    <a:pt x="3294795" y="2253146"/>
                    <a:pt x="3281971" y="2265971"/>
                  </a:cubicBezTo>
                  <a:cubicBezTo>
                    <a:pt x="3269146" y="2278795"/>
                    <a:pt x="3251752" y="2286000"/>
                    <a:pt x="3233615" y="2286000"/>
                  </a:cubicBezTo>
                  <a:lnTo>
                    <a:pt x="68385" y="2286000"/>
                  </a:lnTo>
                  <a:cubicBezTo>
                    <a:pt x="50248" y="2286000"/>
                    <a:pt x="32854" y="2278795"/>
                    <a:pt x="20029" y="2265971"/>
                  </a:cubicBezTo>
                  <a:cubicBezTo>
                    <a:pt x="7205" y="2253146"/>
                    <a:pt x="0" y="2235752"/>
                    <a:pt x="0" y="2217615"/>
                  </a:cubicBezTo>
                  <a:lnTo>
                    <a:pt x="0" y="68385"/>
                  </a:lnTo>
                  <a:cubicBezTo>
                    <a:pt x="0" y="50248"/>
                    <a:pt x="7205" y="32854"/>
                    <a:pt x="20029" y="20029"/>
                  </a:cubicBezTo>
                  <a:cubicBezTo>
                    <a:pt x="32854" y="7205"/>
                    <a:pt x="50248" y="0"/>
                    <a:pt x="68385" y="0"/>
                  </a:cubicBezTo>
                  <a:close/>
                </a:path>
              </a:pathLst>
            </a:custGeom>
            <a:solidFill>
              <a:srgbClr val="00A6A6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302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DENSE</a:t>
              </a:r>
            </a:p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64 • ReLU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6457950" y="4333875"/>
            <a:ext cx="609600" cy="0"/>
          </a:xfrm>
          <a:prstGeom prst="line">
            <a:avLst/>
          </a:prstGeom>
          <a:ln cap="rnd" w="38100">
            <a:solidFill>
              <a:srgbClr val="D9E2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7239000" y="3476625"/>
            <a:ext cx="2286000" cy="1714500"/>
            <a:chOff x="0" y="0"/>
            <a:chExt cx="3048000" cy="2286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48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048000">
                  <a:moveTo>
                    <a:pt x="74083" y="0"/>
                  </a:moveTo>
                  <a:lnTo>
                    <a:pt x="2973917" y="0"/>
                  </a:lnTo>
                  <a:cubicBezTo>
                    <a:pt x="2993565" y="0"/>
                    <a:pt x="3012408" y="7805"/>
                    <a:pt x="3026302" y="21699"/>
                  </a:cubicBezTo>
                  <a:cubicBezTo>
                    <a:pt x="3040195" y="35592"/>
                    <a:pt x="3048000" y="54435"/>
                    <a:pt x="3048000" y="74083"/>
                  </a:cubicBezTo>
                  <a:lnTo>
                    <a:pt x="3048000" y="2211917"/>
                  </a:lnTo>
                  <a:cubicBezTo>
                    <a:pt x="3048000" y="2231565"/>
                    <a:pt x="3040195" y="2250408"/>
                    <a:pt x="3026302" y="2264302"/>
                  </a:cubicBezTo>
                  <a:cubicBezTo>
                    <a:pt x="3012408" y="2278195"/>
                    <a:pt x="2993565" y="2286000"/>
                    <a:pt x="2973917" y="2286000"/>
                  </a:cubicBezTo>
                  <a:lnTo>
                    <a:pt x="74083" y="2286000"/>
                  </a:lnTo>
                  <a:cubicBezTo>
                    <a:pt x="54435" y="2286000"/>
                    <a:pt x="35592" y="2278195"/>
                    <a:pt x="21699" y="2264302"/>
                  </a:cubicBezTo>
                  <a:cubicBezTo>
                    <a:pt x="7805" y="2250408"/>
                    <a:pt x="0" y="2231565"/>
                    <a:pt x="0" y="2211917"/>
                  </a:cubicBezTo>
                  <a:lnTo>
                    <a:pt x="0" y="74083"/>
                  </a:lnTo>
                  <a:cubicBezTo>
                    <a:pt x="0" y="54435"/>
                    <a:pt x="7805" y="35592"/>
                    <a:pt x="21699" y="21699"/>
                  </a:cubicBezTo>
                  <a:cubicBezTo>
                    <a:pt x="35592" y="7805"/>
                    <a:pt x="54435" y="0"/>
                    <a:pt x="74083" y="0"/>
                  </a:cubicBezTo>
                  <a:close/>
                </a:path>
              </a:pathLst>
            </a:custGeom>
            <a:solidFill>
              <a:srgbClr val="102A43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048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DENSE</a:t>
              </a:r>
            </a:p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32 • ReLU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9601200" y="4333875"/>
            <a:ext cx="609600" cy="0"/>
          </a:xfrm>
          <a:prstGeom prst="line">
            <a:avLst/>
          </a:prstGeom>
          <a:ln cap="rnd" w="38100">
            <a:solidFill>
              <a:srgbClr val="D9E2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0382250" y="3476625"/>
            <a:ext cx="2095500" cy="1714500"/>
            <a:chOff x="0" y="0"/>
            <a:chExt cx="2794000" cy="2286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9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794000">
                  <a:moveTo>
                    <a:pt x="80818" y="0"/>
                  </a:moveTo>
                  <a:lnTo>
                    <a:pt x="2713182" y="0"/>
                  </a:lnTo>
                  <a:cubicBezTo>
                    <a:pt x="2734616" y="0"/>
                    <a:pt x="2755173" y="8515"/>
                    <a:pt x="2770329" y="23671"/>
                  </a:cubicBezTo>
                  <a:cubicBezTo>
                    <a:pt x="2785485" y="38827"/>
                    <a:pt x="2794000" y="59384"/>
                    <a:pt x="2794000" y="80818"/>
                  </a:cubicBezTo>
                  <a:lnTo>
                    <a:pt x="2794000" y="2205182"/>
                  </a:lnTo>
                  <a:cubicBezTo>
                    <a:pt x="2794000" y="2226616"/>
                    <a:pt x="2785485" y="2247173"/>
                    <a:pt x="2770329" y="2262329"/>
                  </a:cubicBezTo>
                  <a:cubicBezTo>
                    <a:pt x="2755173" y="2277485"/>
                    <a:pt x="2734616" y="2286000"/>
                    <a:pt x="2713182" y="2286000"/>
                  </a:cubicBezTo>
                  <a:lnTo>
                    <a:pt x="80818" y="2286000"/>
                  </a:lnTo>
                  <a:cubicBezTo>
                    <a:pt x="59384" y="2286000"/>
                    <a:pt x="38827" y="2277485"/>
                    <a:pt x="23671" y="2262329"/>
                  </a:cubicBezTo>
                  <a:cubicBezTo>
                    <a:pt x="8515" y="2247173"/>
                    <a:pt x="0" y="2226616"/>
                    <a:pt x="0" y="2205182"/>
                  </a:cubicBezTo>
                  <a:lnTo>
                    <a:pt x="0" y="80818"/>
                  </a:lnTo>
                  <a:cubicBezTo>
                    <a:pt x="0" y="59384"/>
                    <a:pt x="8515" y="38827"/>
                    <a:pt x="23671" y="23671"/>
                  </a:cubicBezTo>
                  <a:cubicBezTo>
                    <a:pt x="38827" y="8515"/>
                    <a:pt x="59384" y="0"/>
                    <a:pt x="80818" y="0"/>
                  </a:cubicBezTo>
                  <a:close/>
                </a:path>
              </a:pathLst>
            </a:custGeom>
            <a:solidFill>
              <a:srgbClr val="00A6A6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794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DENSE</a:t>
              </a:r>
            </a:p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16 • ReLU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2553950" y="4333875"/>
            <a:ext cx="609600" cy="0"/>
          </a:xfrm>
          <a:prstGeom prst="line">
            <a:avLst/>
          </a:prstGeom>
          <a:ln cap="rnd" w="38100">
            <a:solidFill>
              <a:srgbClr val="D9E2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3335000" y="3476625"/>
            <a:ext cx="1905000" cy="1714500"/>
            <a:chOff x="0" y="0"/>
            <a:chExt cx="2540000" cy="2286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40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540000">
                  <a:moveTo>
                    <a:pt x="88900" y="0"/>
                  </a:moveTo>
                  <a:lnTo>
                    <a:pt x="2451100" y="0"/>
                  </a:lnTo>
                  <a:cubicBezTo>
                    <a:pt x="2500198" y="0"/>
                    <a:pt x="2540000" y="39802"/>
                    <a:pt x="2540000" y="88900"/>
                  </a:cubicBezTo>
                  <a:lnTo>
                    <a:pt x="2540000" y="2197100"/>
                  </a:lnTo>
                  <a:cubicBezTo>
                    <a:pt x="2540000" y="2246198"/>
                    <a:pt x="2500198" y="2286000"/>
                    <a:pt x="2451100" y="2286000"/>
                  </a:cubicBezTo>
                  <a:lnTo>
                    <a:pt x="88900" y="2286000"/>
                  </a:lnTo>
                  <a:cubicBezTo>
                    <a:pt x="39802" y="2286000"/>
                    <a:pt x="0" y="2246198"/>
                    <a:pt x="0" y="2197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28C28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540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OUTPUT</a:t>
              </a:r>
            </a:p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Sigmoid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952750" y="5876925"/>
            <a:ext cx="123825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7"/>
              </a:lnSpc>
            </a:pPr>
            <a:r>
              <a:rPr lang="en-US" sz="2250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Batch Normalization + Dropout after each hidden layer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809750" y="6953250"/>
            <a:ext cx="14668500" cy="952500"/>
            <a:chOff x="0" y="0"/>
            <a:chExt cx="19558000" cy="1270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558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9558000">
                  <a:moveTo>
                    <a:pt x="0" y="0"/>
                  </a:moveTo>
                  <a:lnTo>
                    <a:pt x="19558000" y="0"/>
                  </a:lnTo>
                  <a:lnTo>
                    <a:pt x="19558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E8F5F5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9558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190750" y="7200900"/>
            <a:ext cx="13906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 spc="215">
                <a:solidFill>
                  <a:srgbClr val="00A6A6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ADAM OPTIMIZER     •     BINARY CROSS-ENTROPY     •     EARLY STOPPING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962025"/>
            <a:ext cx="1381125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A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 Performance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478250" y="561975"/>
            <a:ext cx="857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08</a:t>
            </a:r>
          </a:p>
        </p:txBody>
      </p:sp>
      <p:sp>
        <p:nvSpPr>
          <p:cNvPr name="AutoShape 4" id="4"/>
          <p:cNvSpPr/>
          <p:nvPr/>
        </p:nvSpPr>
        <p:spPr>
          <a:xfrm>
            <a:off x="952500" y="1657350"/>
            <a:ext cx="16383000" cy="0"/>
          </a:xfrm>
          <a:prstGeom prst="line">
            <a:avLst/>
          </a:prstGeom>
          <a:ln cap="flat" w="19050">
            <a:solidFill>
              <a:srgbClr val="D9E2EC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44658" y="1273513"/>
            <a:ext cx="12852815" cy="8692475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12668250" y="2476500"/>
            <a:ext cx="4667250" cy="6096000"/>
            <a:chOff x="0" y="0"/>
            <a:chExt cx="6223000" cy="8128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6223000" cy="8128000"/>
              <a:chOff x="0" y="0"/>
              <a:chExt cx="6223000" cy="8128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223000" cy="8128000"/>
              </a:xfrm>
              <a:custGeom>
                <a:avLst/>
                <a:gdLst/>
                <a:ahLst/>
                <a:cxnLst/>
                <a:rect r="r" b="b" t="t" l="l"/>
                <a:pathLst>
                  <a:path h="8128000" w="6223000">
                    <a:moveTo>
                      <a:pt x="0" y="0"/>
                    </a:moveTo>
                    <a:lnTo>
                      <a:pt x="6223000" y="0"/>
                    </a:lnTo>
                    <a:lnTo>
                      <a:pt x="6223000" y="8128000"/>
                    </a:lnTo>
                    <a:lnTo>
                      <a:pt x="0" y="8128000"/>
                    </a:lnTo>
                    <a:close/>
                  </a:path>
                </a:pathLst>
              </a:custGeom>
              <a:solidFill>
                <a:srgbClr val="E8F5F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6223000" cy="816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762000" y="838200"/>
              <a:ext cx="4572000" cy="1101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42"/>
                </a:lnSpc>
              </a:pPr>
              <a:r>
                <a:rPr lang="en-US" sz="5850" b="true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66.31%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889000" y="1993900"/>
              <a:ext cx="4318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spc="225" b="true">
                  <a:solidFill>
                    <a:srgbClr val="00A6A6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RECALL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762000" y="3463925"/>
              <a:ext cx="4572000" cy="963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175">
                  <a:solidFill>
                    <a:srgbClr val="243B5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Missing a real churner is costlier than a false alarm.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762000" y="6311900"/>
              <a:ext cx="4826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 spc="243" b="true">
                  <a:solidFill>
                    <a:srgbClr val="00A6A6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ROC-AUC  83.97%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962025"/>
            <a:ext cx="1381125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A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Risk Classification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478250" y="561975"/>
            <a:ext cx="857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09</a:t>
            </a:r>
          </a:p>
        </p:txBody>
      </p:sp>
      <p:sp>
        <p:nvSpPr>
          <p:cNvPr name="AutoShape 4" id="4"/>
          <p:cNvSpPr/>
          <p:nvPr/>
        </p:nvSpPr>
        <p:spPr>
          <a:xfrm>
            <a:off x="952500" y="1657350"/>
            <a:ext cx="16383000" cy="0"/>
          </a:xfrm>
          <a:prstGeom prst="line">
            <a:avLst/>
          </a:prstGeom>
          <a:ln cap="flat" w="19050">
            <a:solidFill>
              <a:srgbClr val="D9E2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47750" y="2476500"/>
            <a:ext cx="4953000" cy="4095750"/>
            <a:chOff x="0" y="0"/>
            <a:chExt cx="6604000" cy="5461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604000" cy="5461000"/>
              <a:chOff x="0" y="0"/>
              <a:chExt cx="6604000" cy="5461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604000" cy="5461000"/>
              </a:xfrm>
              <a:custGeom>
                <a:avLst/>
                <a:gdLst/>
                <a:ahLst/>
                <a:cxnLst/>
                <a:rect r="r" b="b" t="t" l="l"/>
                <a:pathLst>
                  <a:path h="5461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EAF0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604000" cy="549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571500" y="444500"/>
              <a:ext cx="5461000" cy="736600"/>
              <a:chOff x="0" y="0"/>
              <a:chExt cx="5461000" cy="7366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461000" cy="736600"/>
              </a:xfrm>
              <a:custGeom>
                <a:avLst/>
                <a:gdLst/>
                <a:ahLst/>
                <a:cxnLst/>
                <a:rect r="r" b="b" t="t" l="l"/>
                <a:pathLst>
                  <a:path h="736600" w="5461000">
                    <a:moveTo>
                      <a:pt x="41349" y="0"/>
                    </a:moveTo>
                    <a:lnTo>
                      <a:pt x="5419651" y="0"/>
                    </a:lnTo>
                    <a:cubicBezTo>
                      <a:pt x="5430618" y="0"/>
                      <a:pt x="5441135" y="4356"/>
                      <a:pt x="5448889" y="12111"/>
                    </a:cubicBezTo>
                    <a:cubicBezTo>
                      <a:pt x="5456644" y="19865"/>
                      <a:pt x="5461000" y="30382"/>
                      <a:pt x="5461000" y="41349"/>
                    </a:cubicBezTo>
                    <a:lnTo>
                      <a:pt x="5461000" y="695251"/>
                    </a:lnTo>
                    <a:cubicBezTo>
                      <a:pt x="5461000" y="706218"/>
                      <a:pt x="5456644" y="716735"/>
                      <a:pt x="5448889" y="724489"/>
                    </a:cubicBezTo>
                    <a:cubicBezTo>
                      <a:pt x="5441135" y="732244"/>
                      <a:pt x="5430618" y="736600"/>
                      <a:pt x="5419651" y="736600"/>
                    </a:cubicBezTo>
                    <a:lnTo>
                      <a:pt x="41349" y="736600"/>
                    </a:lnTo>
                    <a:cubicBezTo>
                      <a:pt x="30382" y="736600"/>
                      <a:pt x="19865" y="732244"/>
                      <a:pt x="12111" y="724489"/>
                    </a:cubicBezTo>
                    <a:cubicBezTo>
                      <a:pt x="4356" y="716735"/>
                      <a:pt x="0" y="706218"/>
                      <a:pt x="0" y="695251"/>
                    </a:cubicBezTo>
                    <a:lnTo>
                      <a:pt x="0" y="41349"/>
                    </a:lnTo>
                    <a:cubicBezTo>
                      <a:pt x="0" y="30382"/>
                      <a:pt x="4356" y="19865"/>
                      <a:pt x="12111" y="12111"/>
                    </a:cubicBezTo>
                    <a:cubicBezTo>
                      <a:pt x="19865" y="4356"/>
                      <a:pt x="30382" y="0"/>
                      <a:pt x="41349" y="0"/>
                    </a:cubicBezTo>
                    <a:close/>
                  </a:path>
                </a:pathLst>
              </a:custGeom>
              <a:solidFill>
                <a:srgbClr val="2F9E7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5461000" cy="774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sz="1650" b="true">
                    <a:solidFill>
                      <a:srgbClr val="FFFFFF"/>
                    </a:solidFill>
                    <a:latin typeface="Source Sans 3 Bold"/>
                    <a:ea typeface="Source Sans 3 Bold"/>
                    <a:cs typeface="Source Sans 3 Bold"/>
                    <a:sym typeface="Source Sans 3 Bold"/>
                  </a:rPr>
                  <a:t>LOW RISK</a:t>
                </a: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571500" y="1400175"/>
              <a:ext cx="5715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&lt; 0.30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571500" y="3908425"/>
              <a:ext cx="5715000" cy="468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175">
                  <a:solidFill>
                    <a:srgbClr val="243B5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Monitor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572250" y="2476500"/>
            <a:ext cx="4953000" cy="4095750"/>
            <a:chOff x="0" y="0"/>
            <a:chExt cx="6604000" cy="5461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6604000" cy="5461000"/>
              <a:chOff x="0" y="0"/>
              <a:chExt cx="6604000" cy="5461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604000" cy="5461000"/>
              </a:xfrm>
              <a:custGeom>
                <a:avLst/>
                <a:gdLst/>
                <a:ahLst/>
                <a:cxnLst/>
                <a:rect r="r" b="b" t="t" l="l"/>
                <a:pathLst>
                  <a:path h="5461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EAF0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6604000" cy="549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571500" y="444500"/>
              <a:ext cx="5461000" cy="736600"/>
              <a:chOff x="0" y="0"/>
              <a:chExt cx="5461000" cy="7366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5461000" cy="736600"/>
              </a:xfrm>
              <a:custGeom>
                <a:avLst/>
                <a:gdLst/>
                <a:ahLst/>
                <a:cxnLst/>
                <a:rect r="r" b="b" t="t" l="l"/>
                <a:pathLst>
                  <a:path h="736600" w="5461000">
                    <a:moveTo>
                      <a:pt x="41349" y="0"/>
                    </a:moveTo>
                    <a:lnTo>
                      <a:pt x="5419651" y="0"/>
                    </a:lnTo>
                    <a:cubicBezTo>
                      <a:pt x="5430618" y="0"/>
                      <a:pt x="5441135" y="4356"/>
                      <a:pt x="5448889" y="12111"/>
                    </a:cubicBezTo>
                    <a:cubicBezTo>
                      <a:pt x="5456644" y="19865"/>
                      <a:pt x="5461000" y="30382"/>
                      <a:pt x="5461000" y="41349"/>
                    </a:cubicBezTo>
                    <a:lnTo>
                      <a:pt x="5461000" y="695251"/>
                    </a:lnTo>
                    <a:cubicBezTo>
                      <a:pt x="5461000" y="706218"/>
                      <a:pt x="5456644" y="716735"/>
                      <a:pt x="5448889" y="724489"/>
                    </a:cubicBezTo>
                    <a:cubicBezTo>
                      <a:pt x="5441135" y="732244"/>
                      <a:pt x="5430618" y="736600"/>
                      <a:pt x="5419651" y="736600"/>
                    </a:cubicBezTo>
                    <a:lnTo>
                      <a:pt x="41349" y="736600"/>
                    </a:lnTo>
                    <a:cubicBezTo>
                      <a:pt x="30382" y="736600"/>
                      <a:pt x="19865" y="732244"/>
                      <a:pt x="12111" y="724489"/>
                    </a:cubicBezTo>
                    <a:cubicBezTo>
                      <a:pt x="4356" y="716735"/>
                      <a:pt x="0" y="706218"/>
                      <a:pt x="0" y="695251"/>
                    </a:cubicBezTo>
                    <a:lnTo>
                      <a:pt x="0" y="41349"/>
                    </a:lnTo>
                    <a:cubicBezTo>
                      <a:pt x="0" y="30382"/>
                      <a:pt x="4356" y="19865"/>
                      <a:pt x="12111" y="12111"/>
                    </a:cubicBezTo>
                    <a:cubicBezTo>
                      <a:pt x="19865" y="4356"/>
                      <a:pt x="30382" y="0"/>
                      <a:pt x="41349" y="0"/>
                    </a:cubicBezTo>
                    <a:close/>
                  </a:path>
                </a:pathLst>
              </a:custGeom>
              <a:solidFill>
                <a:srgbClr val="F28C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5461000" cy="774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sz="1650" b="true">
                    <a:solidFill>
                      <a:srgbClr val="FFFFFF"/>
                    </a:solidFill>
                    <a:latin typeface="Source Sans 3 Bold"/>
                    <a:ea typeface="Source Sans 3 Bold"/>
                    <a:cs typeface="Source Sans 3 Bold"/>
                    <a:sym typeface="Source Sans 3 Bold"/>
                  </a:rPr>
                  <a:t>MEDIUM RISK</a:t>
                </a: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71500" y="1400175"/>
              <a:ext cx="5715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0.30 – &lt; 0.60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571500" y="3908425"/>
              <a:ext cx="5715000" cy="468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175">
                  <a:solidFill>
                    <a:srgbClr val="243B5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Engage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096750" y="2476500"/>
            <a:ext cx="4953000" cy="4095750"/>
            <a:chOff x="0" y="0"/>
            <a:chExt cx="6604000" cy="54610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6604000" cy="5461000"/>
              <a:chOff x="0" y="0"/>
              <a:chExt cx="6604000" cy="5461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604000" cy="5461000"/>
              </a:xfrm>
              <a:custGeom>
                <a:avLst/>
                <a:gdLst/>
                <a:ahLst/>
                <a:cxnLst/>
                <a:rect r="r" b="b" t="t" l="l"/>
                <a:pathLst>
                  <a:path h="5461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EAF0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6604000" cy="549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571500" y="444500"/>
              <a:ext cx="5461000" cy="736600"/>
              <a:chOff x="0" y="0"/>
              <a:chExt cx="5461000" cy="7366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5461000" cy="736600"/>
              </a:xfrm>
              <a:custGeom>
                <a:avLst/>
                <a:gdLst/>
                <a:ahLst/>
                <a:cxnLst/>
                <a:rect r="r" b="b" t="t" l="l"/>
                <a:pathLst>
                  <a:path h="736600" w="5461000">
                    <a:moveTo>
                      <a:pt x="41349" y="0"/>
                    </a:moveTo>
                    <a:lnTo>
                      <a:pt x="5419651" y="0"/>
                    </a:lnTo>
                    <a:cubicBezTo>
                      <a:pt x="5430618" y="0"/>
                      <a:pt x="5441135" y="4356"/>
                      <a:pt x="5448889" y="12111"/>
                    </a:cubicBezTo>
                    <a:cubicBezTo>
                      <a:pt x="5456644" y="19865"/>
                      <a:pt x="5461000" y="30382"/>
                      <a:pt x="5461000" y="41349"/>
                    </a:cubicBezTo>
                    <a:lnTo>
                      <a:pt x="5461000" y="695251"/>
                    </a:lnTo>
                    <a:cubicBezTo>
                      <a:pt x="5461000" y="706218"/>
                      <a:pt x="5456644" y="716735"/>
                      <a:pt x="5448889" y="724489"/>
                    </a:cubicBezTo>
                    <a:cubicBezTo>
                      <a:pt x="5441135" y="732244"/>
                      <a:pt x="5430618" y="736600"/>
                      <a:pt x="5419651" y="736600"/>
                    </a:cubicBezTo>
                    <a:lnTo>
                      <a:pt x="41349" y="736600"/>
                    </a:lnTo>
                    <a:cubicBezTo>
                      <a:pt x="30382" y="736600"/>
                      <a:pt x="19865" y="732244"/>
                      <a:pt x="12111" y="724489"/>
                    </a:cubicBezTo>
                    <a:cubicBezTo>
                      <a:pt x="4356" y="716735"/>
                      <a:pt x="0" y="706218"/>
                      <a:pt x="0" y="695251"/>
                    </a:cubicBezTo>
                    <a:lnTo>
                      <a:pt x="0" y="41349"/>
                    </a:lnTo>
                    <a:cubicBezTo>
                      <a:pt x="0" y="30382"/>
                      <a:pt x="4356" y="19865"/>
                      <a:pt x="12111" y="12111"/>
                    </a:cubicBezTo>
                    <a:cubicBezTo>
                      <a:pt x="19865" y="4356"/>
                      <a:pt x="30382" y="0"/>
                      <a:pt x="41349" y="0"/>
                    </a:cubicBezTo>
                    <a:close/>
                  </a:path>
                </a:pathLst>
              </a:custGeom>
              <a:solidFill>
                <a:srgbClr val="D6454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5461000" cy="774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sz="1650" b="true">
                    <a:solidFill>
                      <a:srgbClr val="FFFFFF"/>
                    </a:solidFill>
                    <a:latin typeface="Source Sans 3 Bold"/>
                    <a:ea typeface="Source Sans 3 Bold"/>
                    <a:cs typeface="Source Sans 3 Bold"/>
                    <a:sym typeface="Source Sans 3 Bold"/>
                  </a:rPr>
                  <a:t>HIGH RISK</a:t>
                </a: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571500" y="1400175"/>
              <a:ext cx="5715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≥ 0.60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571500" y="3908425"/>
              <a:ext cx="5715000" cy="468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175">
                  <a:solidFill>
                    <a:srgbClr val="243B5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Act now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4857750" y="7667625"/>
            <a:ext cx="857250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4"/>
              </a:lnSpc>
            </a:pPr>
            <a:r>
              <a:rPr lang="en-US" b="true" sz="2325" spc="279">
                <a:solidFill>
                  <a:srgbClr val="00A6A6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PREDICTED CHURN THRESHOLD  =  0.45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962025"/>
            <a:ext cx="1381125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A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Explainable AI With SHAP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478250" y="561975"/>
            <a:ext cx="857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10</a:t>
            </a:r>
          </a:p>
        </p:txBody>
      </p:sp>
      <p:sp>
        <p:nvSpPr>
          <p:cNvPr name="AutoShape 4" id="4"/>
          <p:cNvSpPr/>
          <p:nvPr/>
        </p:nvSpPr>
        <p:spPr>
          <a:xfrm>
            <a:off x="952500" y="1657350"/>
            <a:ext cx="16383000" cy="0"/>
          </a:xfrm>
          <a:prstGeom prst="line">
            <a:avLst/>
          </a:prstGeom>
          <a:ln cap="flat" w="19050">
            <a:solidFill>
              <a:srgbClr val="D9E2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143000" y="2686050"/>
            <a:ext cx="4762500" cy="1083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68"/>
              </a:lnSpc>
            </a:pPr>
            <a:r>
              <a:rPr lang="en-US" sz="7875" b="true">
                <a:solidFill>
                  <a:srgbClr val="102A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8250" y="4448175"/>
            <a:ext cx="49530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+  increases churn likelihood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8250" y="5067300"/>
            <a:ext cx="49530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−  supports customer retention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8250" y="6629400"/>
            <a:ext cx="4762500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252" b="true">
                <a:solidFill>
                  <a:srgbClr val="00A6A6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DeepExplainer</a:t>
            </a:r>
          </a:p>
          <a:p>
            <a:pPr algn="l">
              <a:lnSpc>
                <a:spcPts val="2940"/>
              </a:lnSpc>
            </a:pPr>
            <a:r>
              <a:rPr lang="en-US" sz="2100" spc="252" b="true">
                <a:solidFill>
                  <a:srgbClr val="00A6A6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KernelExplainer fallback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493151" y="1409434"/>
            <a:ext cx="11302448" cy="84206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962025"/>
            <a:ext cx="1381125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A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Application Architecture &amp; Features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478250" y="561975"/>
            <a:ext cx="857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11</a:t>
            </a:r>
          </a:p>
        </p:txBody>
      </p:sp>
      <p:sp>
        <p:nvSpPr>
          <p:cNvPr name="AutoShape 4" id="4"/>
          <p:cNvSpPr/>
          <p:nvPr/>
        </p:nvSpPr>
        <p:spPr>
          <a:xfrm>
            <a:off x="952500" y="1657350"/>
            <a:ext cx="16383000" cy="0"/>
          </a:xfrm>
          <a:prstGeom prst="line">
            <a:avLst/>
          </a:prstGeom>
          <a:ln cap="flat" w="19050">
            <a:solidFill>
              <a:srgbClr val="D9E2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857250" y="2476500"/>
            <a:ext cx="3143250" cy="1190625"/>
            <a:chOff x="0" y="0"/>
            <a:chExt cx="4191000" cy="1587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910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4191000">
                  <a:moveTo>
                    <a:pt x="53879" y="0"/>
                  </a:moveTo>
                  <a:lnTo>
                    <a:pt x="4137121" y="0"/>
                  </a:lnTo>
                  <a:cubicBezTo>
                    <a:pt x="4151411" y="0"/>
                    <a:pt x="4165115" y="5676"/>
                    <a:pt x="4175219" y="15781"/>
                  </a:cubicBezTo>
                  <a:cubicBezTo>
                    <a:pt x="4185324" y="25885"/>
                    <a:pt x="4191000" y="39589"/>
                    <a:pt x="4191000" y="53879"/>
                  </a:cubicBezTo>
                  <a:lnTo>
                    <a:pt x="4191000" y="1533621"/>
                  </a:lnTo>
                  <a:cubicBezTo>
                    <a:pt x="4191000" y="1547911"/>
                    <a:pt x="4185324" y="1561615"/>
                    <a:pt x="4175219" y="1571719"/>
                  </a:cubicBezTo>
                  <a:cubicBezTo>
                    <a:pt x="4165115" y="1581824"/>
                    <a:pt x="4151411" y="1587500"/>
                    <a:pt x="4137121" y="1587500"/>
                  </a:cubicBezTo>
                  <a:lnTo>
                    <a:pt x="53879" y="1587500"/>
                  </a:lnTo>
                  <a:cubicBezTo>
                    <a:pt x="39589" y="1587500"/>
                    <a:pt x="25885" y="1581824"/>
                    <a:pt x="15781" y="1571719"/>
                  </a:cubicBezTo>
                  <a:cubicBezTo>
                    <a:pt x="5676" y="1561615"/>
                    <a:pt x="0" y="1547911"/>
                    <a:pt x="0" y="1533621"/>
                  </a:cubicBezTo>
                  <a:lnTo>
                    <a:pt x="0" y="53879"/>
                  </a:lnTo>
                  <a:cubicBezTo>
                    <a:pt x="0" y="39589"/>
                    <a:pt x="5676" y="25885"/>
                    <a:pt x="15781" y="15781"/>
                  </a:cubicBezTo>
                  <a:cubicBezTo>
                    <a:pt x="25885" y="5676"/>
                    <a:pt x="39589" y="0"/>
                    <a:pt x="53879" y="0"/>
                  </a:cubicBezTo>
                  <a:close/>
                </a:path>
              </a:pathLst>
            </a:custGeom>
            <a:solidFill>
              <a:srgbClr val="00A6A6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191000" cy="162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Streamlit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Frontend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4095750" y="3067050"/>
            <a:ext cx="666750" cy="0"/>
          </a:xfrm>
          <a:prstGeom prst="line">
            <a:avLst/>
          </a:prstGeom>
          <a:ln cap="rnd" w="38100">
            <a:solidFill>
              <a:srgbClr val="627D9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4953000" y="2476500"/>
            <a:ext cx="3143250" cy="1190625"/>
            <a:chOff x="0" y="0"/>
            <a:chExt cx="4191000" cy="1587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910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4191000">
                  <a:moveTo>
                    <a:pt x="53879" y="0"/>
                  </a:moveTo>
                  <a:lnTo>
                    <a:pt x="4137121" y="0"/>
                  </a:lnTo>
                  <a:cubicBezTo>
                    <a:pt x="4151411" y="0"/>
                    <a:pt x="4165115" y="5676"/>
                    <a:pt x="4175219" y="15781"/>
                  </a:cubicBezTo>
                  <a:cubicBezTo>
                    <a:pt x="4185324" y="25885"/>
                    <a:pt x="4191000" y="39589"/>
                    <a:pt x="4191000" y="53879"/>
                  </a:cubicBezTo>
                  <a:lnTo>
                    <a:pt x="4191000" y="1533621"/>
                  </a:lnTo>
                  <a:cubicBezTo>
                    <a:pt x="4191000" y="1547911"/>
                    <a:pt x="4185324" y="1561615"/>
                    <a:pt x="4175219" y="1571719"/>
                  </a:cubicBezTo>
                  <a:cubicBezTo>
                    <a:pt x="4165115" y="1581824"/>
                    <a:pt x="4151411" y="1587500"/>
                    <a:pt x="4137121" y="1587500"/>
                  </a:cubicBezTo>
                  <a:lnTo>
                    <a:pt x="53879" y="1587500"/>
                  </a:lnTo>
                  <a:cubicBezTo>
                    <a:pt x="39589" y="1587500"/>
                    <a:pt x="25885" y="1581824"/>
                    <a:pt x="15781" y="1571719"/>
                  </a:cubicBezTo>
                  <a:cubicBezTo>
                    <a:pt x="5676" y="1561615"/>
                    <a:pt x="0" y="1547911"/>
                    <a:pt x="0" y="1533621"/>
                  </a:cubicBezTo>
                  <a:lnTo>
                    <a:pt x="0" y="53879"/>
                  </a:lnTo>
                  <a:cubicBezTo>
                    <a:pt x="0" y="39589"/>
                    <a:pt x="5676" y="25885"/>
                    <a:pt x="15781" y="15781"/>
                  </a:cubicBezTo>
                  <a:cubicBezTo>
                    <a:pt x="25885" y="5676"/>
                    <a:pt x="39589" y="0"/>
                    <a:pt x="53879" y="0"/>
                  </a:cubicBezTo>
                  <a:close/>
                </a:path>
              </a:pathLst>
            </a:custGeom>
            <a:solidFill>
              <a:srgbClr val="E8F5F5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191000" cy="162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Flask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REST API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8191500" y="3067050"/>
            <a:ext cx="666750" cy="0"/>
          </a:xfrm>
          <a:prstGeom prst="line">
            <a:avLst/>
          </a:prstGeom>
          <a:ln cap="rnd" w="38100">
            <a:solidFill>
              <a:srgbClr val="627D9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9048750" y="2476500"/>
            <a:ext cx="3143250" cy="1190625"/>
            <a:chOff x="0" y="0"/>
            <a:chExt cx="4191000" cy="1587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910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4191000">
                  <a:moveTo>
                    <a:pt x="53879" y="0"/>
                  </a:moveTo>
                  <a:lnTo>
                    <a:pt x="4137121" y="0"/>
                  </a:lnTo>
                  <a:cubicBezTo>
                    <a:pt x="4151411" y="0"/>
                    <a:pt x="4165115" y="5676"/>
                    <a:pt x="4175219" y="15781"/>
                  </a:cubicBezTo>
                  <a:cubicBezTo>
                    <a:pt x="4185324" y="25885"/>
                    <a:pt x="4191000" y="39589"/>
                    <a:pt x="4191000" y="53879"/>
                  </a:cubicBezTo>
                  <a:lnTo>
                    <a:pt x="4191000" y="1533621"/>
                  </a:lnTo>
                  <a:cubicBezTo>
                    <a:pt x="4191000" y="1547911"/>
                    <a:pt x="4185324" y="1561615"/>
                    <a:pt x="4175219" y="1571719"/>
                  </a:cubicBezTo>
                  <a:cubicBezTo>
                    <a:pt x="4165115" y="1581824"/>
                    <a:pt x="4151411" y="1587500"/>
                    <a:pt x="4137121" y="1587500"/>
                  </a:cubicBezTo>
                  <a:lnTo>
                    <a:pt x="53879" y="1587500"/>
                  </a:lnTo>
                  <a:cubicBezTo>
                    <a:pt x="39589" y="1587500"/>
                    <a:pt x="25885" y="1581824"/>
                    <a:pt x="15781" y="1571719"/>
                  </a:cubicBezTo>
                  <a:cubicBezTo>
                    <a:pt x="5676" y="1561615"/>
                    <a:pt x="0" y="1547911"/>
                    <a:pt x="0" y="1533621"/>
                  </a:cubicBezTo>
                  <a:lnTo>
                    <a:pt x="0" y="53879"/>
                  </a:lnTo>
                  <a:cubicBezTo>
                    <a:pt x="0" y="39589"/>
                    <a:pt x="5676" y="25885"/>
                    <a:pt x="15781" y="15781"/>
                  </a:cubicBezTo>
                  <a:cubicBezTo>
                    <a:pt x="25885" y="5676"/>
                    <a:pt x="39589" y="0"/>
                    <a:pt x="53879" y="0"/>
                  </a:cubicBezTo>
                  <a:close/>
                </a:path>
              </a:pathLst>
            </a:custGeom>
            <a:solidFill>
              <a:srgbClr val="102A43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191000" cy="162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Preprocessor +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TensorFlow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12287250" y="3067050"/>
            <a:ext cx="666750" cy="0"/>
          </a:xfrm>
          <a:prstGeom prst="line">
            <a:avLst/>
          </a:prstGeom>
          <a:ln cap="rnd" w="38100">
            <a:solidFill>
              <a:srgbClr val="627D9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3144500" y="2476500"/>
            <a:ext cx="3143250" cy="1190625"/>
            <a:chOff x="0" y="0"/>
            <a:chExt cx="4191000" cy="1587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910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4191000">
                  <a:moveTo>
                    <a:pt x="53879" y="0"/>
                  </a:moveTo>
                  <a:lnTo>
                    <a:pt x="4137121" y="0"/>
                  </a:lnTo>
                  <a:cubicBezTo>
                    <a:pt x="4151411" y="0"/>
                    <a:pt x="4165115" y="5676"/>
                    <a:pt x="4175219" y="15781"/>
                  </a:cubicBezTo>
                  <a:cubicBezTo>
                    <a:pt x="4185324" y="25885"/>
                    <a:pt x="4191000" y="39589"/>
                    <a:pt x="4191000" y="53879"/>
                  </a:cubicBezTo>
                  <a:lnTo>
                    <a:pt x="4191000" y="1533621"/>
                  </a:lnTo>
                  <a:cubicBezTo>
                    <a:pt x="4191000" y="1547911"/>
                    <a:pt x="4185324" y="1561615"/>
                    <a:pt x="4175219" y="1571719"/>
                  </a:cubicBezTo>
                  <a:cubicBezTo>
                    <a:pt x="4165115" y="1581824"/>
                    <a:pt x="4151411" y="1587500"/>
                    <a:pt x="4137121" y="1587500"/>
                  </a:cubicBezTo>
                  <a:lnTo>
                    <a:pt x="53879" y="1587500"/>
                  </a:lnTo>
                  <a:cubicBezTo>
                    <a:pt x="39589" y="1587500"/>
                    <a:pt x="25885" y="1581824"/>
                    <a:pt x="15781" y="1571719"/>
                  </a:cubicBezTo>
                  <a:cubicBezTo>
                    <a:pt x="5676" y="1561615"/>
                    <a:pt x="0" y="1547911"/>
                    <a:pt x="0" y="1533621"/>
                  </a:cubicBezTo>
                  <a:lnTo>
                    <a:pt x="0" y="53879"/>
                  </a:lnTo>
                  <a:cubicBezTo>
                    <a:pt x="0" y="39589"/>
                    <a:pt x="5676" y="25885"/>
                    <a:pt x="15781" y="15781"/>
                  </a:cubicBezTo>
                  <a:cubicBezTo>
                    <a:pt x="25885" y="5676"/>
                    <a:pt x="39589" y="0"/>
                    <a:pt x="53879" y="0"/>
                  </a:cubicBezTo>
                  <a:close/>
                </a:path>
              </a:pathLst>
            </a:custGeom>
            <a:solidFill>
              <a:srgbClr val="E8F5F5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191000" cy="162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SHAP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Explainer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2500" y="5238750"/>
            <a:ext cx="5000625" cy="1095375"/>
            <a:chOff x="0" y="0"/>
            <a:chExt cx="6667500" cy="14605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6667500" cy="1460500"/>
              <a:chOff x="0" y="0"/>
              <a:chExt cx="6667500" cy="14605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667500" cy="1460500"/>
              </a:xfrm>
              <a:custGeom>
                <a:avLst/>
                <a:gdLst/>
                <a:ahLst/>
                <a:cxnLst/>
                <a:rect r="r" b="b" t="t" l="l"/>
                <a:pathLst>
                  <a:path h="1460500" w="6667500">
                    <a:moveTo>
                      <a:pt x="0" y="0"/>
                    </a:moveTo>
                    <a:lnTo>
                      <a:pt x="6667500" y="0"/>
                    </a:lnTo>
                    <a:lnTo>
                      <a:pt x="6667500" y="1460500"/>
                    </a:lnTo>
                    <a:lnTo>
                      <a:pt x="0" y="1460500"/>
                    </a:lnTo>
                    <a:close/>
                  </a:path>
                </a:pathLst>
              </a:custGeom>
              <a:solidFill>
                <a:srgbClr val="EAF0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6667500" cy="1498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381000" y="409575"/>
              <a:ext cx="6032500" cy="393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en-US" sz="2100" b="true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  Single customer prediction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429375" y="5238750"/>
            <a:ext cx="5000625" cy="1095375"/>
            <a:chOff x="0" y="0"/>
            <a:chExt cx="6667500" cy="14605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6667500" cy="1460500"/>
              <a:chOff x="0" y="0"/>
              <a:chExt cx="6667500" cy="14605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667500" cy="1460500"/>
              </a:xfrm>
              <a:custGeom>
                <a:avLst/>
                <a:gdLst/>
                <a:ahLst/>
                <a:cxnLst/>
                <a:rect r="r" b="b" t="t" l="l"/>
                <a:pathLst>
                  <a:path h="1460500" w="6667500">
                    <a:moveTo>
                      <a:pt x="0" y="0"/>
                    </a:moveTo>
                    <a:lnTo>
                      <a:pt x="6667500" y="0"/>
                    </a:lnTo>
                    <a:lnTo>
                      <a:pt x="6667500" y="1460500"/>
                    </a:lnTo>
                    <a:lnTo>
                      <a:pt x="0" y="1460500"/>
                    </a:lnTo>
                    <a:close/>
                  </a:path>
                </a:pathLst>
              </a:custGeom>
              <a:solidFill>
                <a:srgbClr val="E8F5F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6667500" cy="1498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381000" y="409575"/>
              <a:ext cx="6032500" cy="393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en-US" sz="2100" b="true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  Batch CSV scoring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906250" y="5238750"/>
            <a:ext cx="5000625" cy="1095375"/>
            <a:chOff x="0" y="0"/>
            <a:chExt cx="6667500" cy="14605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6667500" cy="1460500"/>
              <a:chOff x="0" y="0"/>
              <a:chExt cx="6667500" cy="14605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6667500" cy="1460500"/>
              </a:xfrm>
              <a:custGeom>
                <a:avLst/>
                <a:gdLst/>
                <a:ahLst/>
                <a:cxnLst/>
                <a:rect r="r" b="b" t="t" l="l"/>
                <a:pathLst>
                  <a:path h="1460500" w="6667500">
                    <a:moveTo>
                      <a:pt x="0" y="0"/>
                    </a:moveTo>
                    <a:lnTo>
                      <a:pt x="6667500" y="0"/>
                    </a:lnTo>
                    <a:lnTo>
                      <a:pt x="6667500" y="1460500"/>
                    </a:lnTo>
                    <a:lnTo>
                      <a:pt x="0" y="1460500"/>
                    </a:lnTo>
                    <a:close/>
                  </a:path>
                </a:pathLst>
              </a:custGeom>
              <a:solidFill>
                <a:srgbClr val="EAF0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6667500" cy="1498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381000" y="409575"/>
              <a:ext cx="6032500" cy="393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en-US" sz="2100" b="true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  Risk ranking dashboard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52500" y="6667500"/>
            <a:ext cx="5000625" cy="1095375"/>
            <a:chOff x="0" y="0"/>
            <a:chExt cx="6667500" cy="1460500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6667500" cy="1460500"/>
              <a:chOff x="0" y="0"/>
              <a:chExt cx="6667500" cy="14605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6667500" cy="1460500"/>
              </a:xfrm>
              <a:custGeom>
                <a:avLst/>
                <a:gdLst/>
                <a:ahLst/>
                <a:cxnLst/>
                <a:rect r="r" b="b" t="t" l="l"/>
                <a:pathLst>
                  <a:path h="1460500" w="6667500">
                    <a:moveTo>
                      <a:pt x="0" y="0"/>
                    </a:moveTo>
                    <a:lnTo>
                      <a:pt x="6667500" y="0"/>
                    </a:lnTo>
                    <a:lnTo>
                      <a:pt x="6667500" y="1460500"/>
                    </a:lnTo>
                    <a:lnTo>
                      <a:pt x="0" y="1460500"/>
                    </a:lnTo>
                    <a:close/>
                  </a:path>
                </a:pathLst>
              </a:custGeom>
              <a:solidFill>
                <a:srgbClr val="E8F5F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6667500" cy="1498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381000" y="409575"/>
              <a:ext cx="6032500" cy="393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en-US" sz="2100" b="true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4  Interactive charts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429375" y="6667500"/>
            <a:ext cx="5000625" cy="1095375"/>
            <a:chOff x="0" y="0"/>
            <a:chExt cx="6667500" cy="1460500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6667500" cy="1460500"/>
              <a:chOff x="0" y="0"/>
              <a:chExt cx="6667500" cy="14605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6667500" cy="1460500"/>
              </a:xfrm>
              <a:custGeom>
                <a:avLst/>
                <a:gdLst/>
                <a:ahLst/>
                <a:cxnLst/>
                <a:rect r="r" b="b" t="t" l="l"/>
                <a:pathLst>
                  <a:path h="1460500" w="6667500">
                    <a:moveTo>
                      <a:pt x="0" y="0"/>
                    </a:moveTo>
                    <a:lnTo>
                      <a:pt x="6667500" y="0"/>
                    </a:lnTo>
                    <a:lnTo>
                      <a:pt x="6667500" y="1460500"/>
                    </a:lnTo>
                    <a:lnTo>
                      <a:pt x="0" y="1460500"/>
                    </a:lnTo>
                    <a:close/>
                  </a:path>
                </a:pathLst>
              </a:custGeom>
              <a:solidFill>
                <a:srgbClr val="EAF0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6667500" cy="1498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381000" y="409575"/>
              <a:ext cx="6032500" cy="393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en-US" sz="2100" b="true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5  CSV + HTML reports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906250" y="6667500"/>
            <a:ext cx="5000625" cy="1095375"/>
            <a:chOff x="0" y="0"/>
            <a:chExt cx="6667500" cy="1460500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6667500" cy="1460500"/>
              <a:chOff x="0" y="0"/>
              <a:chExt cx="6667500" cy="14605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6667500" cy="1460500"/>
              </a:xfrm>
              <a:custGeom>
                <a:avLst/>
                <a:gdLst/>
                <a:ahLst/>
                <a:cxnLst/>
                <a:rect r="r" b="b" t="t" l="l"/>
                <a:pathLst>
                  <a:path h="1460500" w="6667500">
                    <a:moveTo>
                      <a:pt x="0" y="0"/>
                    </a:moveTo>
                    <a:lnTo>
                      <a:pt x="6667500" y="0"/>
                    </a:lnTo>
                    <a:lnTo>
                      <a:pt x="6667500" y="1460500"/>
                    </a:lnTo>
                    <a:lnTo>
                      <a:pt x="0" y="1460500"/>
                    </a:lnTo>
                    <a:close/>
                  </a:path>
                </a:pathLst>
              </a:custGeom>
              <a:solidFill>
                <a:srgbClr val="E8F5F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6667500" cy="1498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381000" y="409575"/>
              <a:ext cx="6032500" cy="393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en-US" sz="2100" b="true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6  SHAP Assistant Q&amp;A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962025"/>
            <a:ext cx="1381125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A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 &amp; Future Scope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478250" y="561975"/>
            <a:ext cx="857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12</a:t>
            </a:r>
          </a:p>
        </p:txBody>
      </p:sp>
      <p:sp>
        <p:nvSpPr>
          <p:cNvPr name="AutoShape 4" id="4"/>
          <p:cNvSpPr/>
          <p:nvPr/>
        </p:nvSpPr>
        <p:spPr>
          <a:xfrm>
            <a:off x="952500" y="1657350"/>
            <a:ext cx="16383000" cy="0"/>
          </a:xfrm>
          <a:prstGeom prst="line">
            <a:avLst/>
          </a:prstGeom>
          <a:ln cap="flat" w="19050">
            <a:solidFill>
              <a:srgbClr val="D9E2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00125" y="2314575"/>
            <a:ext cx="1000125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102A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Predict. Explain. Prioritize.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750" y="3114675"/>
            <a:ext cx="10001250" cy="35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An explainable DNN turns churn probability into focused retention action.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43000" y="4810125"/>
            <a:ext cx="3333750" cy="1148715"/>
            <a:chOff x="0" y="0"/>
            <a:chExt cx="4445000" cy="153162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76200"/>
              <a:ext cx="4445000" cy="1013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70"/>
                </a:lnSpc>
              </a:pPr>
              <a:r>
                <a:rPr lang="en-US" sz="5400" b="true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66.31%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63500" y="1168400"/>
              <a:ext cx="381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98" b="true">
                  <a:solidFill>
                    <a:srgbClr val="00A6A6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RECALL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762500" y="4810125"/>
            <a:ext cx="3333750" cy="1148715"/>
            <a:chOff x="0" y="0"/>
            <a:chExt cx="4445000" cy="153162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76200"/>
              <a:ext cx="4445000" cy="1013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70"/>
                </a:lnSpc>
              </a:pPr>
              <a:r>
                <a:rPr lang="en-US" sz="5400" b="true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83.97%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63500" y="1168400"/>
              <a:ext cx="381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98" b="true">
                  <a:solidFill>
                    <a:srgbClr val="00A6A6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ROC-AUC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049000" y="2095500"/>
            <a:ext cx="6286500" cy="4953000"/>
            <a:chOff x="0" y="0"/>
            <a:chExt cx="8382000" cy="6604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8382000" cy="6604000"/>
              <a:chOff x="0" y="0"/>
              <a:chExt cx="8382000" cy="6604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382000" cy="6604000"/>
              </a:xfrm>
              <a:custGeom>
                <a:avLst/>
                <a:gdLst/>
                <a:ahLst/>
                <a:cxnLst/>
                <a:rect r="r" b="b" t="t" l="l"/>
                <a:pathLst>
                  <a:path h="6604000" w="8382000">
                    <a:moveTo>
                      <a:pt x="0" y="0"/>
                    </a:moveTo>
                    <a:lnTo>
                      <a:pt x="8382000" y="0"/>
                    </a:lnTo>
                    <a:lnTo>
                      <a:pt x="83820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E8F5F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8382000" cy="664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889000" y="288925"/>
              <a:ext cx="7239000" cy="18548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243B5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NEXT</a:t>
              </a:r>
            </a:p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243B5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01  Real-time CRM integration</a:t>
              </a:r>
            </a:p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243B5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02  Automated retention recommendations</a:t>
              </a:r>
            </a:p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243B5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03  Monitoring, retraining &amp; live testing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047750" y="7191375"/>
            <a:ext cx="6572250" cy="0"/>
          </a:xfrm>
          <a:prstGeom prst="line">
            <a:avLst/>
          </a:prstGeom>
          <a:ln cap="rnd" w="47625">
            <a:solidFill>
              <a:srgbClr val="00A6A6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DAHVSIJRbZY</dc:identifier>
  <dcterms:modified xsi:type="dcterms:W3CDTF">2011-08-01T06:04:30Z</dcterms:modified>
  <cp:revision>1</cp:revision>
  <dc:title>Telco Churn Prediction</dc:title>
</cp:coreProperties>
</file>